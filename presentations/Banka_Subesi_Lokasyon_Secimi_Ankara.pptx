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MCDM Puanı</c:v>
                </c:pt>
              </c:strCache>
            </c:strRef>
          </c:tx>
          <c:spPr>
            <a:solidFill>
              <a:srgbClr val="DB27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B277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B277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Çankaya</c:v>
                  </c:pt>
                  <c:pt idx="1">
                    <c:v>Yenimahalle</c:v>
                  </c:pt>
                  <c:pt idx="2">
                    <c:v>Keçiören</c:v>
                  </c:pt>
                  <c:pt idx="3">
                    <c:v>Sincan</c:v>
                  </c:pt>
                  <c:pt idx="4">
                    <c:v>Mamak</c:v>
                  </c:pt>
                  <c:pt idx="5">
                    <c:v>Etimesgut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6.5</c:v>
                </c:pt>
                <c:pt idx="1">
                  <c:v>5.69</c:v>
                </c:pt>
                <c:pt idx="2">
                  <c:v>6.98</c:v>
                </c:pt>
                <c:pt idx="3">
                  <c:v>3.97</c:v>
                </c:pt>
                <c:pt idx="4">
                  <c:v>4.11</c:v>
                </c:pt>
                <c:pt idx="5">
                  <c:v>4.58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AHP Ağırlığı (%)</c:v>
                </c:pt>
              </c:strCache>
            </c:strRef>
          </c:tx>
          <c:spPr>
            <a:solidFill>
              <a:srgbClr val="DB27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B277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Nüfus</c:v>
                  </c:pt>
                  <c:pt idx="1">
                    <c:v>Kira</c:v>
                  </c:pt>
                  <c:pt idx="2">
                    <c:v>Ticari</c:v>
                  </c:pt>
                  <c:pt idx="3">
                    <c:v>Rekabet</c:v>
                  </c:pt>
                  <c:pt idx="4">
                    <c:v>Ulaşım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32.2</c:v>
                </c:pt>
                <c:pt idx="1">
                  <c:v>18.8</c:v>
                </c:pt>
                <c:pt idx="2">
                  <c:v>25.9</c:v>
                </c:pt>
                <c:pt idx="3">
                  <c:v>10.1</c:v>
                </c:pt>
                <c:pt idx="4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 Yakınlık Katsayısı</c:v>
                </c:pt>
              </c:strCache>
            </c:strRef>
          </c:tx>
          <c:spPr>
            <a:solidFill>
              <a:srgbClr val="DB2777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B277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B277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Çankaya</c:v>
                  </c:pt>
                  <c:pt idx="1">
                    <c:v>Yenimahalle</c:v>
                  </c:pt>
                  <c:pt idx="2">
                    <c:v>Keçiören</c:v>
                  </c:pt>
                  <c:pt idx="3">
                    <c:v>Sincan</c:v>
                  </c:pt>
                  <c:pt idx="4">
                    <c:v>Mamak</c:v>
                  </c:pt>
                  <c:pt idx="5">
                    <c:v>Etimesgut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0.321</c:v>
                </c:pt>
                <c:pt idx="1">
                  <c:v>0.447</c:v>
                </c:pt>
                <c:pt idx="2">
                  <c:v>0.612</c:v>
                </c:pt>
                <c:pt idx="3">
                  <c:v>0.303</c:v>
                </c:pt>
                <c:pt idx="4">
                  <c:v>0.398</c:v>
                </c:pt>
                <c:pt idx="5">
                  <c:v>0.435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Beklenen</c:v>
                </c:pt>
              </c:strCache>
            </c:strRef>
          </c:tx>
          <c:spPr>
            <a:solidFill>
              <a:srgbClr val="DB27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Çankaya</c:v>
                  </c:pt>
                  <c:pt idx="1">
                    <c:v>Yenimahalle</c:v>
                  </c:pt>
                  <c:pt idx="2">
                    <c:v>Keçiören</c:v>
                  </c:pt>
                  <c:pt idx="3">
                    <c:v>Sincan</c:v>
                  </c:pt>
                  <c:pt idx="4">
                    <c:v>Mamak</c:v>
                  </c:pt>
                  <c:pt idx="5">
                    <c:v>Etimesgut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6.5</c:v>
                </c:pt>
                <c:pt idx="1">
                  <c:v>5.69</c:v>
                </c:pt>
                <c:pt idx="2">
                  <c:v>6.98</c:v>
                </c:pt>
                <c:pt idx="3">
                  <c:v>3.97</c:v>
                </c:pt>
                <c:pt idx="4">
                  <c:v>4.11</c:v>
                </c:pt>
                <c:pt idx="5">
                  <c:v>4.58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İyimser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Çankaya</c:v>
                  </c:pt>
                  <c:pt idx="1">
                    <c:v>Yenimahalle</c:v>
                  </c:pt>
                  <c:pt idx="2">
                    <c:v>Keçiören</c:v>
                  </c:pt>
                  <c:pt idx="3">
                    <c:v>Sincan</c:v>
                  </c:pt>
                  <c:pt idx="4">
                    <c:v>Mamak</c:v>
                  </c:pt>
                  <c:pt idx="5">
                    <c:v>Etimesgut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8.12</c:v>
                </c:pt>
                <c:pt idx="1">
                  <c:v>6.44</c:v>
                </c:pt>
                <c:pt idx="2">
                  <c:v>7.87</c:v>
                </c:pt>
                <c:pt idx="3">
                  <c:v>2.91</c:v>
                </c:pt>
                <c:pt idx="4">
                  <c:v>3.23</c:v>
                </c:pt>
                <c:pt idx="5">
                  <c:v>4.1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Kötümser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Çankaya</c:v>
                  </c:pt>
                  <c:pt idx="1">
                    <c:v>Yenimahalle</c:v>
                  </c:pt>
                  <c:pt idx="2">
                    <c:v>Keçiören</c:v>
                  </c:pt>
                  <c:pt idx="3">
                    <c:v>Sincan</c:v>
                  </c:pt>
                  <c:pt idx="4">
                    <c:v>Mamak</c:v>
                  </c:pt>
                  <c:pt idx="5">
                    <c:v>Etimesgut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2.44</c:v>
                </c:pt>
                <c:pt idx="1">
                  <c:v>4.42</c:v>
                </c:pt>
                <c:pt idx="2">
                  <c:v>6.38</c:v>
                </c:pt>
                <c:pt idx="3">
                  <c:v>6.11</c:v>
                </c:pt>
                <c:pt idx="4">
                  <c:v>6.89</c:v>
                </c:pt>
                <c:pt idx="5">
                  <c:v>5.97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MCDM</c:v>
                </c:pt>
              </c:strCache>
            </c:strRef>
          </c:tx>
          <c:spPr>
            <a:solidFill>
              <a:srgbClr val="DB27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Çankaya</c:v>
                  </c:pt>
                  <c:pt idx="1">
                    <c:v>Yenimahalle</c:v>
                  </c:pt>
                  <c:pt idx="2">
                    <c:v>Keçiören</c:v>
                  </c:pt>
                  <c:pt idx="3">
                    <c:v>Sincan</c:v>
                  </c:pt>
                  <c:pt idx="4">
                    <c:v>Mamak</c:v>
                  </c:pt>
                  <c:pt idx="5">
                    <c:v>Etimesgut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0.65</c:v>
                </c:pt>
                <c:pt idx="1">
                  <c:v>0.569</c:v>
                </c:pt>
                <c:pt idx="2">
                  <c:v>0.698</c:v>
                </c:pt>
                <c:pt idx="3">
                  <c:v>0.397</c:v>
                </c:pt>
                <c:pt idx="4">
                  <c:v>0.411</c:v>
                </c:pt>
                <c:pt idx="5">
                  <c:v>0.458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TOPSİS (Ci)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Çankaya</c:v>
                  </c:pt>
                  <c:pt idx="1">
                    <c:v>Yenimahalle</c:v>
                  </c:pt>
                  <c:pt idx="2">
                    <c:v>Keçiören</c:v>
                  </c:pt>
                  <c:pt idx="3">
                    <c:v>Sincan</c:v>
                  </c:pt>
                  <c:pt idx="4">
                    <c:v>Mamak</c:v>
                  </c:pt>
                  <c:pt idx="5">
                    <c:v>Etimesgut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0.321</c:v>
                </c:pt>
                <c:pt idx="1">
                  <c:v>0.447</c:v>
                </c:pt>
                <c:pt idx="2">
                  <c:v>0.612</c:v>
                </c:pt>
                <c:pt idx="3">
                  <c:v>0.303</c:v>
                </c:pt>
                <c:pt idx="4">
                  <c:v>0.398</c:v>
                </c:pt>
                <c:pt idx="5">
                  <c:v>0.435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AHP-MCDM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Çankaya</c:v>
                  </c:pt>
                  <c:pt idx="1">
                    <c:v>Yenimahalle</c:v>
                  </c:pt>
                  <c:pt idx="2">
                    <c:v>Keçiören</c:v>
                  </c:pt>
                  <c:pt idx="3">
                    <c:v>Sincan</c:v>
                  </c:pt>
                  <c:pt idx="4">
                    <c:v>Mamak</c:v>
                  </c:pt>
                  <c:pt idx="5">
                    <c:v>Etimesgut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0.628</c:v>
                </c:pt>
                <c:pt idx="1">
                  <c:v>0.551</c:v>
                </c:pt>
                <c:pt idx="2">
                  <c:v>0.705</c:v>
                </c:pt>
                <c:pt idx="3">
                  <c:v>0.402</c:v>
                </c:pt>
                <c:pt idx="4">
                  <c:v>0.425</c:v>
                </c:pt>
                <c:pt idx="5">
                  <c:v>0.467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3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548640"/>
            <a:ext cx="1371600" cy="1371600"/>
          </a:xfrm>
          <a:prstGeom prst="ellipse">
            <a:avLst/>
          </a:prstGeom>
          <a:solidFill>
            <a:srgbClr val="DB2777">
              <a:alpha val="40000"/>
            </a:srgbClr>
          </a:solidFill>
          <a:ln w="12700">
            <a:solidFill>
              <a:srgbClr val="DB277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2560320"/>
            <a:ext cx="2011680" cy="2011680"/>
          </a:xfrm>
          <a:prstGeom prst="ellipse">
            <a:avLst/>
          </a:prstGeom>
          <a:solidFill>
            <a:srgbClr val="1A0312">
              <a:alpha val="70000"/>
            </a:srgbClr>
          </a:solidFill>
          <a:ln w="12700">
            <a:solidFill>
              <a:srgbClr val="DB2777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2011680" cy="2743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DESTEK SİSTEMİ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 Şubesi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Lokasyon Seçimi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İlçe Analizi · Çok Kriterli Karar Verme Yaklaşımı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1143000" cy="347472"/>
          </a:xfrm>
          <a:prstGeom prst="roundRect">
            <a:avLst>
              <a:gd name="adj" fmla="val 18421"/>
            </a:avLst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490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83080" y="3749040"/>
            <a:ext cx="1143000" cy="347472"/>
          </a:xfrm>
          <a:prstGeom prst="roundRect">
            <a:avLst>
              <a:gd name="adj" fmla="val 18421"/>
            </a:avLst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83080" y="37490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08960" y="3749040"/>
            <a:ext cx="1143000" cy="347472"/>
          </a:xfrm>
          <a:prstGeom prst="roundRect">
            <a:avLst>
              <a:gd name="adj" fmla="val 18421"/>
            </a:avLst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374904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TOPSİS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Alternatif İlçe  ·  5 Karar Kriteri  ·  2024–2025 Verileri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TANIMI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Bu Problem?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3383280"/>
          </a:xfrm>
          <a:prstGeom prst="rect">
            <a:avLst/>
          </a:prstGeom>
          <a:solidFill>
            <a:srgbClr val="FFF0F6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Problemi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Verici: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 Genel Müdürlüğü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Amaç: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Ankara'da yeni şube açmak için en uygun ilçeyi seçmek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Kısıt: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 il sınırları içindeki 6 merkez ilçe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KDS?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Çelişen kriterler (yüksek nüfus vs. düşük kira vs. az rakip) tek başına değerlendirilemez. Sistematik, veri tabanlı ve tekrarlanabilir bir karar süreci gereklidir.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371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Kriterleri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828800"/>
            <a:ext cx="54864" cy="41148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828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Nüfus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0756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= İyi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2395728"/>
            <a:ext cx="54864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3957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Ort. Kira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64261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= İyi (maliyet)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962656"/>
            <a:ext cx="54864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9626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Ticari Hareketlilik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20954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= İyi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3529584"/>
            <a:ext cx="54864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5295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Şube (Rekabet)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37764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= İyi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4096512"/>
            <a:ext cx="54864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4096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Kolaylığı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43434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= İyi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63440" y="4663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Alternatifler (6 İlçe)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4956048"/>
            <a:ext cx="1234440" cy="0"/>
          </a:xfrm>
          <a:prstGeom prst="roundRect">
            <a:avLst>
              <a:gd name="adj" fmla="val Infinity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4956048"/>
            <a:ext cx="1234440" cy="0"/>
          </a:xfrm>
          <a:prstGeom prst="roundRect">
            <a:avLst>
              <a:gd name="adj" fmla="val Infinity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06640" y="4956048"/>
            <a:ext cx="1234440" cy="0"/>
          </a:xfrm>
          <a:prstGeom prst="roundRect">
            <a:avLst>
              <a:gd name="adj" fmla="val Infinity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4956048"/>
            <a:ext cx="1234440" cy="0"/>
          </a:xfrm>
          <a:prstGeom prst="roundRect">
            <a:avLst>
              <a:gd name="adj" fmla="val Infinity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35040" y="4956048"/>
            <a:ext cx="1234440" cy="0"/>
          </a:xfrm>
          <a:prstGeom prst="roundRect">
            <a:avLst>
              <a:gd name="adj" fmla="val Infinity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06640" y="4956048"/>
            <a:ext cx="1234440" cy="0"/>
          </a:xfrm>
          <a:prstGeom prst="roundRect">
            <a:avLst>
              <a:gd name="adj" fmla="val Infinity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495604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Çankaya  ·  Yenimahalle  ·  Keçiören  ·  Sincan  ·  Mamak  ·  Etimesgut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&amp; NORMALİZASYON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Veri ve Dönüşüm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/ 12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4688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İlçe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17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Nüfus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17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 (₺)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17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Ticari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17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Şube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17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Ulaşım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174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Çankaya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952.198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Yenimahalle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721.531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Keçiören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931.722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Sincan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605.366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690.329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Etimesgut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632.458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Normalizasyon Yöntemi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4315968"/>
            <a:ext cx="3931920" cy="640080"/>
          </a:xfrm>
          <a:prstGeom prst="rect">
            <a:avLst/>
          </a:prstGeom>
          <a:solidFill>
            <a:srgbClr val="FFF0F6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3434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Fayda Kriterleri (Nüfus, Ticari, Ulaşım)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" y="4572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= (x − min) / (max − min) × 10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0" y="4315968"/>
            <a:ext cx="4114800" cy="640080"/>
          </a:xfrm>
          <a:prstGeom prst="rect">
            <a:avLst/>
          </a:prstGeom>
          <a:solidFill>
            <a:srgbClr val="FFF0F6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43434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 Kriterleri (Kira, Şube Rekabeti)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663440" y="4572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= (max − x) / (max − min) ×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3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Kullanılan Analiz Yöntemleri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yöntem farklı bir bakış açısı sunar. Üçü birlikte daha güvenilir bir karar verir.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560320" cy="329184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Ağırlıklı Toplam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560320"/>
            <a:ext cx="228600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63347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kritere bir ağırlık atanır. İlçeler normalize puanların ağırlıklı ortalamasına göre sıralanır.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886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Ağırlıklar: Nüfus %25 · Kira %20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Ticari %25 · Rekabet %15 · Ulaşım %15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1600200"/>
            <a:ext cx="2560320" cy="3291840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Analitik Hiyerarşi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291840" y="2560320"/>
            <a:ext cx="228600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63347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Saaty Ölçeği ile ikili karşılaştırma yapılır. Matematiksel özdeğer yöntemi ile ağırlıklar türetilir.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3886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Tutarlılık Oranı CR &lt; %10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Geçerli sonuç garantisi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52160" y="1600200"/>
            <a:ext cx="2560320" cy="3291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TOPSİS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8932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İdeal Çözüme Yakınlık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989320" y="2560320"/>
            <a:ext cx="228600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263347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alternatif, ideal en iyi ve ideal en kötü çözüme uzaklığına göre değerlendirilir.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89320" y="3886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= Si⁻ / (Si⁺ + Si⁻)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yüksek → ideal çözüme yakın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MCDM ANALİZİ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Ağırlıklı Puanlama Sonuçları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/ 12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32588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989320" y="1325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Kriter Ağırlıkları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989320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Nüfus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040880" y="1865376"/>
            <a:ext cx="388620" cy="15544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0" y="1783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%25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89320" y="2286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Ticari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040880" y="2368296"/>
            <a:ext cx="388620" cy="1554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95360" y="228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%25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89320" y="2788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040880" y="2871216"/>
            <a:ext cx="310896" cy="1554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95360" y="2788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%20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89320" y="3291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Rekabet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040880" y="3374136"/>
            <a:ext cx="233172" cy="155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95360" y="3291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%15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89320" y="3794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040880" y="3877056"/>
            <a:ext cx="233172" cy="1554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595360" y="3794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%15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989320" y="4251960"/>
            <a:ext cx="3017520" cy="685800"/>
          </a:xfrm>
          <a:prstGeom prst="rect">
            <a:avLst/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80760" y="431596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MCDM Önerisi: </a:t>
            </a:r>
            <a:pPr indent="0" marL="0">
              <a:buNone/>
            </a:pPr>
            <a:r>
              <a:rPr lang="en-US" sz="11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Keçiören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6.98 puan ile birinci sıra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AHP ANALİZİ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Saaty Ölçeği ile Ağırlıklandırma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İkili Karşılaştır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71907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kriter çifti için Saaty Ölçeği (1–9) kullanılarak göreceli önem belirlenir. 5×5 = 10 karşılaştırma yapılır.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532888"/>
            <a:ext cx="457200" cy="45720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532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 Türet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834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Matrisin sütunları normalleştirilir. Her satırın ortalaması o kriterin öncelik ağırlığını verir.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648456"/>
            <a:ext cx="457200" cy="45720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648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Tutarlılık Kontrol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95020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= CI / RI formülü ile hesaplanır. CR &lt; %10 ise değerlendirme matematiksel olarak geçerlidir.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617720"/>
            <a:ext cx="416052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3600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Tutarlılık Oranı CR = %7.4  —  Geçerli (CR &lt; %10)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1325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Türetilen Kriter Ağırlıkları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846320" y="1737360"/>
          <a:ext cx="38404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4846320" y="4754880"/>
            <a:ext cx="3840480" cy="228600"/>
          </a:xfrm>
          <a:prstGeom prst="rect">
            <a:avLst/>
          </a:prstGeom>
          <a:solidFill>
            <a:srgbClr val="FFF0F6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37760" y="47731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AHP Önerisi: Keçiören · 7.05 puan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TOPSİS ANALİZİ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İdeal Çözüme Yakınlık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132588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0" y="1527048"/>
            <a:ext cx="274320" cy="0"/>
          </a:xfrm>
          <a:prstGeom prst="line">
            <a:avLst/>
          </a:prstGeom>
          <a:noFill/>
          <a:ln w="19050">
            <a:solidFill>
              <a:srgbClr val="DB27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21408" y="132588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21408" y="132588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132588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Ağırlıkla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93008" y="1527048"/>
            <a:ext cx="274320" cy="0"/>
          </a:xfrm>
          <a:prstGeom prst="line">
            <a:avLst/>
          </a:prstGeom>
          <a:noFill/>
          <a:ln w="19050">
            <a:solidFill>
              <a:srgbClr val="DB277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85616" y="132588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85616" y="132588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33088" y="132588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İdeal Bul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57216" y="1527048"/>
            <a:ext cx="274320" cy="0"/>
          </a:xfrm>
          <a:prstGeom prst="line">
            <a:avLst/>
          </a:prstGeom>
          <a:noFill/>
          <a:ln w="19050">
            <a:solidFill>
              <a:srgbClr val="DB277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49824" y="132588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9824" y="132588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97296" y="132588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Uzaklık Hesapla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21424" y="1527048"/>
            <a:ext cx="274320" cy="0"/>
          </a:xfrm>
          <a:prstGeom prst="line">
            <a:avLst/>
          </a:prstGeom>
          <a:noFill/>
          <a:ln w="1905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14032" y="132588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4032" y="132588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61504" y="1325880"/>
            <a:ext cx="102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Sırala</a:t>
            </a:r>
            <a:endParaRPr lang="en-US" sz="10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57200" y="187452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571500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Yakınlık Katsayısı Formülü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715000" y="2286000"/>
            <a:ext cx="3200400" cy="1097280"/>
          </a:xfrm>
          <a:prstGeom prst="rect">
            <a:avLst/>
          </a:prstGeom>
          <a:solidFill>
            <a:srgbClr val="FFF0F6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233172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= Si⁻ / (Si⁺ + Si⁻)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Si⁺ = İdeal en iyiye uzaklık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Si⁻ = İdeal en kötüye uzaklık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↑ Yüksek = İdeal çözüme yakın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715000" y="3520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TOPSİS Sıralaması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715000" y="3886200"/>
            <a:ext cx="3200400" cy="347472"/>
          </a:xfrm>
          <a:prstGeom prst="rect">
            <a:avLst/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06440" y="39044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Keçiören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635240" y="39044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Ci: 0.612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715000" y="4270248"/>
            <a:ext cx="3200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06440" y="42885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Yenimahalle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635240" y="42885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Ci: 0.447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715000" y="4654296"/>
            <a:ext cx="3200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806440" y="46725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Etimesgut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7635240" y="46725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Ci: 0.435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SENARYO ANALİZİ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Piyasa Koşullarında Karar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Dengeli ağırlıklar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 piyasa koşulları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04872"/>
            <a:ext cx="2743200" cy="347472"/>
          </a:xfrm>
          <a:prstGeom prst="rect">
            <a:avLst/>
          </a:prstGeom>
          <a:solidFill>
            <a:srgbClr val="FFF0F6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323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Öneri: Keçiören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64992" y="1371600"/>
            <a:ext cx="274320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İyimser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64992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Büyüme odaklı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Nüfus &amp; ticari ön plan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64992" y="2404872"/>
            <a:ext cx="2743200" cy="347472"/>
          </a:xfrm>
          <a:prstGeom prst="rect">
            <a:avLst/>
          </a:prstGeom>
          <a:solidFill>
            <a:srgbClr val="FFF0F6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24323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Öneri: Çankaya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72784" y="1371600"/>
            <a:ext cx="274320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Kötümser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72784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odaklı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 &amp; rekabet ön plan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72784" y="2404872"/>
            <a:ext cx="2743200" cy="347472"/>
          </a:xfrm>
          <a:prstGeom prst="rect">
            <a:avLst/>
          </a:prstGeom>
          <a:solidFill>
            <a:srgbClr val="FFF0F6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24323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Öneri: Mamak</a:t>
            </a:r>
            <a:endParaRPr lang="en-US" sz="12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57200" y="2880360"/>
          <a:ext cx="822960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DUYARLILIK ANALİZİ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"Koşullar Değişirse Karar Değişir mi?"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114800" cy="96012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3560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Ticari hareketlilik %20 artarsa?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176479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Keçiören liderliğini korur. Karar stabil.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371600"/>
            <a:ext cx="4114800" cy="96012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43560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Kira maliyeti %20 artarsa?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37760" y="176479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Keçiören hâlâ birinci. Kira avantajı güçlenir.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4114800" cy="960120"/>
          </a:xfrm>
          <a:prstGeom prst="rect">
            <a:avLst/>
          </a:prstGeom>
          <a:solidFill>
            <a:srgbClr val="FFF0F6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8716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Kira ağırlığı %30'a çıkarsa?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281635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Mamak veya Sincan öne geçebilir.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2423160"/>
            <a:ext cx="4114800" cy="960120"/>
          </a:xfrm>
          <a:prstGeom prst="rect">
            <a:avLst/>
          </a:prstGeom>
          <a:solidFill>
            <a:srgbClr val="FFF0F6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48716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Rekabet ağırlığı %25'e çıkarsa?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37760" y="281635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Mamak liderliği alır (en az şube).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4114800" cy="960120"/>
          </a:xfrm>
          <a:prstGeom prst="rect">
            <a:avLst/>
          </a:prstGeom>
          <a:solidFill>
            <a:srgbClr val="FFF0F6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53872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Ticari endeks %30 düşerse?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4360" y="386791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maliyetli ilçeler avantaj kazanır.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3474720"/>
            <a:ext cx="4114800" cy="960120"/>
          </a:xfrm>
          <a:prstGeom prst="rect">
            <a:avLst/>
          </a:prstGeom>
          <a:solidFill>
            <a:srgbClr val="FFF0F6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53872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Nüfus ağırlığı %40'a çıkarsa?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37760" y="386791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Çankaya birinci olur (en yüksek nüfus).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5994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Keçiören, çoğu senaryoda ve kriter değişiminde liderliğini korumaktadır → Karar Riski: DÜŞÜK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 KARŞILAŞTIRMASI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Yöntemin Konsensüs Analizi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/ 12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029200" cy="347472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İlçe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17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MCDM Sırası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17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TOPSİS Sırası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17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AHP Sırası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17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Ort. Sıra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17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B2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Keçiören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B2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B2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B2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B2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Yenimahalle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Çankaya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Etimesgut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5669280" y="1371600"/>
          <a:ext cx="32918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956048"/>
            <a:ext cx="8229600" cy="0"/>
          </a:xfrm>
          <a:prstGeom prst="rect">
            <a:avLst/>
          </a:prstGeom>
          <a:noFill/>
          <a:ln/>
        </p:spPr>
      </p:sp>
      <p:sp>
        <p:nvSpPr>
          <p:cNvPr id="9" name="Text 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Keçiören, 3 yöntemin tamamında 1. sıradadır → Konsensüs Güçlü ✓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3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YÖNETİCİ ÖNERİSİ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1554480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Keçiören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 Yöntemde Birinci · MCDM: 6.98 · TOPSİS Ci: 0.612 · AHP: 7.05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1938528" cy="11887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42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Nüfus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8163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931.722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3337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büyük ilçe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32888" y="2468880"/>
            <a:ext cx="1938528" cy="1188720"/>
          </a:xfrm>
          <a:prstGeom prst="rect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2542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Uygun Kira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78608" y="28163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₺100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78608" y="3337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 düzey maliyet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08576" y="2468880"/>
            <a:ext cx="1938528" cy="118872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54296" y="2542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Rakip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54296" y="28163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şube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54296" y="3337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rekabet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84264" y="2468880"/>
            <a:ext cx="1938528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9984" y="2542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Riski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29984" y="28163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29984" y="3337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yöntem uyumlu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Kararın Değişme Koşulları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1879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 ağırlığı &gt; %30 → Mamak öne geçer   ·   Rekabet ağırlığı &gt; %25 → Mamak lider olur   ·   Nüfus ağırlığı &gt; %40 → Çankaya birinci olur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Özeti ve Katkılar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" cy="82296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8249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Ankara'da banka şubesi lokasyon seçimi: 6 ilçe alternatifi, 5 karar kriteri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54864" cy="82296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68249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TÜİK nüfus, BDDK şube, belediye kira ve ulaşım verileri; min-max normalizasyon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54864" cy="82296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423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73405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Ağırlıklı toplam yöntemi; ağırlıklar slider ile dinamik değiştirilebilir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423160"/>
            <a:ext cx="54864" cy="82296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423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73405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Saaty Ölçeği ile ikili karşılaştırma; CR = %7.4 (tutarlı)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54864" cy="82296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74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TOPSİS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78561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İdeal çözüm tabanlı sıralama; Si⁺ ve Si⁻ uzaklıkları hesaplanmış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474720"/>
            <a:ext cx="54864" cy="82296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474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78561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 temalı interaktif HTML paneli; senaryo &amp; duyarlılık analizi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526280"/>
            <a:ext cx="8229600" cy="18288"/>
          </a:xfrm>
          <a:prstGeom prst="rect">
            <a:avLst/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Kaynakları:  TÜİK İl İstatistikleri (2024)  ·  BDDK Banka Şube Veritabanı (2024)  ·  Ankara Büyükşehir Belediyesi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9194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Metodoloji:  Saaty T.L. (1980) AHP  ·  Hwang &amp; Yoon (1981) TOPSIS  ·  Çok Kriterli Karar Verme (ÇKKV)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Banka Şubesi Lokasyon Seçimi — KDS</dc:title>
  <dc:subject>PptxGenJS Presentation</dc:subject>
  <dc:creator>Karar Destek Sistemi Projesi</dc:creator>
  <cp:lastModifiedBy>Karar Destek Sistemi Projesi</cp:lastModifiedBy>
  <cp:revision>1</cp:revision>
  <dcterms:created xsi:type="dcterms:W3CDTF">2026-05-10T12:59:57Z</dcterms:created>
  <dcterms:modified xsi:type="dcterms:W3CDTF">2026-05-10T12:59:57Z</dcterms:modified>
</cp:coreProperties>
</file>